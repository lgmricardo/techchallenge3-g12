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4610A"/>
                </a:solidFill>
                <a:latin typeface="Calibri"/>
              </a:rPr>
              <a:t>POSTECH DTAT · TECH CHALLENGE — FASE 3 · MATERIAL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864"/>
                </a:solidFill>
                <a:latin typeface="Calibri"/>
              </a:rPr>
              <a:t>O Mercado Brasileiro de Dados:</a:t>
            </a:r>
          </a:p>
          <a:p>
            <a:r>
              <a:rPr sz="3200" b="1" i="0">
                <a:solidFill>
                  <a:srgbClr val="1F3864"/>
                </a:solidFill>
                <a:latin typeface="Calibri"/>
              </a:rPr>
              <a:t>o que 22.686 profissionais revelam sobre</a:t>
            </a:r>
          </a:p>
          <a:p>
            <a:r>
              <a:rPr sz="3200" b="1" i="0">
                <a:solidFill>
                  <a:srgbClr val="1F3864"/>
                </a:solidFill>
                <a:latin typeface="Calibri"/>
              </a:rPr>
              <a:t>contratar, capacitar e investir em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444444"/>
                </a:solidFill>
                <a:latin typeface="Calibri"/>
              </a:rPr>
              <a:t>Big Data &amp; Analytics na AWS · pesquisa State of Data Brasil (Data Hackers &amp; Bain &amp; Company)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Grupo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4663440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Efraim Oliveira · Érica Tarsis · Ricardo Moraes · Rodrigo Bernardino · Thiago Galvão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Cliente (simulado)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5029200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Instituição financeira de grande porte — expansão de Dados, Analytics e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Calibri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5394960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1A1A1A"/>
                </a:solidFill>
                <a:latin typeface="Calibri"/>
              </a:rPr>
              <a:t>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4610A"/>
                </a:solidFill>
                <a:latin typeface="Calibri"/>
              </a:rPr>
              <a:t>AGENDA E SÍNTESE EXECUTIVA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F3864"/>
                </a:solidFill>
                <a:latin typeface="Calibri"/>
              </a:rPr>
              <a:t>Seis evidências que definem três decisões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0233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1.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Contexto e pergunta norteadora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2.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Metodologia e arquitetura da solução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3.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Mercado: perfis, senioridade e remuneração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4.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Diversidade, tecnologias e adoção de IA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5.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Regiões e modelos de trabalho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6.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Recomendações, riscos e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0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666666"/>
                </a:solidFill>
                <a:latin typeface="Calibri"/>
              </a:rPr>
              <a:t>Fonte primária única: seis edições da pesquisa, processadas em pipeline próprio na AWS. Nenhum número deste material vem de fonte externa.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92040" y="1188720"/>
          <a:ext cx="67665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108960"/>
              </a:tblGrid>
              <a:tr h="43107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Evidência (2025/26)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Decisão recomendada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Python 92,0% e SQL 84,2% de adoção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Trilha-base obrigatória Python + SQL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AWS lidera a nuvem com 48,3%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Priorizar stack e certificações AWS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IA como prioridade: 36,2% → 60,6%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Acelerar GenAI com governança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Empresa paga GenAI: 6,4% → 42,4%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Licenciamento corporativo + política de uso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Gap salarial de −28,6% no nível Sênior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Metas de diversidade na promoção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Apenas 1,9% desejam 100% presencial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Flexibilidade declarada como política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777777"/>
                </a:solidFill>
                <a:latin typeface="Calibri"/>
              </a:rPr>
              <a:t>Fonte: State of Data Brasil — Data Hackers/Bain (Kaggle) · Edição 2025/26 · n = 3.495 respondentes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E2E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4610A"/>
                </a:solidFill>
                <a:latin typeface="Calibri"/>
              </a:rPr>
              <a:t>CONTEXTO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F3864"/>
                </a:solidFill>
                <a:latin typeface="Calibri"/>
              </a:rPr>
              <a:t>Expandir Dados e IA exige ler o mercado antes de contratar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67665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Cliente: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instituição financeira de grande porte, decidida a expandir Dados, Analytics e IA.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Dor: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definir contratação, capacitação e investimento sem um retrato confiável do mercado.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Risco de errar: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bandas salariais desalinhadas, disputa por perfis escassos e investimento em IA sobre base de dados não confiável.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Nossa entrega: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pipeline analítico completo na AWS somado à leitura estratégica das seis edições da pesquisa de referência do setor.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18872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3864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755648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444444"/>
                </a:solidFill>
                <a:latin typeface="Calibri"/>
              </a:rPr>
              <a:t>decisões em jogo: quem contratar, o que capacitar e onde investir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2560320"/>
            <a:ext cx="4023360" cy="11887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ctr"/>
            <a:r>
              <a:rPr sz="950" b="1" i="0">
                <a:solidFill>
                  <a:srgbClr val="A34D00"/>
                </a:solidFill>
                <a:latin typeface="Calibri"/>
              </a:rPr>
              <a:t>IMPLICAÇÃO PARA O CLIENTE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Cada decisão deste material é rastreável a um número da pesquisa — nenhuma recomendação é opinião.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2560320"/>
            <a:ext cx="38100" cy="1188720"/>
          </a:xfrm>
          <a:prstGeom prst="rect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777777"/>
                </a:solidFill>
                <a:latin typeface="Calibri"/>
              </a:rPr>
              <a:t>Fonte: State of Data Brasil — Data Hackers/Bain (Kaggle) · Edições 2019 a 2025/26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E2E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4610A"/>
                </a:solidFill>
                <a:latin typeface="Calibri"/>
              </a:rPr>
              <a:t>PERGUNTA NORTEADORA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F3864"/>
                </a:solidFill>
                <a:latin typeface="Calibri"/>
              </a:rPr>
              <a:t>Uma pergunta, sete desdobramentos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5855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Como a evolução do mercado brasileiro de dados (perfil profissional, senioridade, remuneração, diversidade, tecnologias e adoção de IA), observada nas três últimas edições da pesquisa State of Data Brasil,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deve orientar as estratégias de contratação, capacitação e investimento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de uma instituição financeira de grande porte?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38100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1. Como está estruturado o mercado de Dados? (slide 7)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2. Quais perfis são mais valorizados? (slide 8)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3. Qual o cenário de diversidade de gênero? (slide 9)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4. Quais tecnologias têm maior adoção? (slide 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60604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5. Qual o índice de adoção de IA e seu impacto? (slide 11)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6. Há diferenças por região, senioridade e modelo de trabalho? (slides 8, 9 e 12)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7. Quais oportunidades e desafios para quem investe? (slide 13)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777777"/>
                </a:solidFill>
                <a:latin typeface="Calibri"/>
              </a:rPr>
              <a:t>As sete perguntas obrigatórias do enunciado são respondidas uma a uma nos blocos analíticos (slides 7 a 13)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E2E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4610A"/>
                </a:solidFill>
                <a:latin typeface="Calibri"/>
              </a:rPr>
              <a:t>METODOLOGIA E FONTES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F3864"/>
                </a:solidFill>
                <a:latin typeface="Calibri"/>
              </a:rPr>
              <a:t>Seis edições, 22.686 respostas, um pipeline auditável</a:t>
            </a:r>
          </a:p>
        </p:txBody>
      </p:sp>
      <p:pic>
        <p:nvPicPr>
          <p:cNvPr id="4" name="Picture 3" descr="G01_respondents_by_e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6675120" cy="34710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05502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666666"/>
                </a:solidFill>
                <a:latin typeface="Calibri"/>
              </a:rPr>
              <a:t>Figura 1 — Respondentes por edição (cinza: contexto histórico; azul: núcleo obrigatório).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188720"/>
            <a:ext cx="4206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Núcleo obrigatório: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2023, 2024 e 2025/26 — 14.005 respostas.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Contexto histórico: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2019, 2021 e 2022, usados apenas em séries longas.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Comparação só após harmonização: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69 colunas por edição em de-para versionado.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Zero registros descartados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entre origem e análise (reconciliação 1:1).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Percentuais de múltipla escolha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calculados sobre respondentes válidos de cada questão.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3703320"/>
            <a:ext cx="4206240" cy="10515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ctr"/>
            <a:r>
              <a:rPr sz="950" b="1" i="0">
                <a:solidFill>
                  <a:srgbClr val="A34D00"/>
                </a:solidFill>
                <a:latin typeface="Calibri"/>
              </a:rPr>
              <a:t>POR QUE CONFIAR NOS NÚMEROS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Premissas versionadas (P1–P8) e pipeline reexecutável: qualquer terceiro chega aos mesmos resultados.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3703320"/>
            <a:ext cx="38100" cy="1051560"/>
          </a:xfrm>
          <a:prstGeom prst="rect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777777"/>
                </a:solidFill>
                <a:latin typeface="Calibri"/>
              </a:rPr>
              <a:t>Fonte: State of Data Brasil — Data Hackers/Bain (Kaggle) · Edições 2019–2025/26 · n total = 22.686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E2E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4610A"/>
                </a:solidFill>
                <a:latin typeface="Calibri"/>
              </a:rPr>
              <a:t>ARQUITETURA DA SOLUÇÃO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F3864"/>
                </a:solidFill>
                <a:latin typeface="Calibri"/>
              </a:rPr>
              <a:t>Do CSV bruto à decisão: pipeline Medallion na AWS</a:t>
            </a:r>
          </a:p>
        </p:txBody>
      </p:sp>
      <p:pic>
        <p:nvPicPr>
          <p:cNvPr id="4" name="Picture 3" descr="aws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447" y="1188720"/>
            <a:ext cx="6400800" cy="39479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164120"/>
            <a:ext cx="111858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666666"/>
                </a:solidFill>
                <a:latin typeface="Calibri"/>
              </a:rPr>
              <a:t>Figura 2 — Arquitetura da solução, desenhada em Draw.io e executada no AWS Academy Lab.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56728"/>
            <a:ext cx="11185855" cy="7772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ctr"/>
            <a:r>
              <a:rPr sz="950" b="1" i="0">
                <a:solidFill>
                  <a:srgbClr val="A34D00"/>
                </a:solidFill>
                <a:latin typeface="Calibri"/>
              </a:rPr>
              <a:t>IMPLICAÇÃO PARA O CLIENTE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Esta arquitetura é o blueprint mínimo da plataforma recomendada: S3 (Bronze/Silver/Gold), Glue Jobs em PySpark, Glue Data Catalog e Athena — com criptografia SSE-S3, Block Public Access e menor privilégio desde o primeiro dia.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456728"/>
            <a:ext cx="38100" cy="777240"/>
          </a:xfrm>
          <a:prstGeom prst="rect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777777"/>
                </a:solidFill>
                <a:latin typeface="Calibri"/>
              </a:rPr>
              <a:t>Camada Gold com 21 tabelas analíticas · particionamento por ano · consultas SQL serverless no Athena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E2E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4610A"/>
                </a:solidFill>
                <a:latin typeface="Calibri"/>
              </a:rPr>
              <a:t>PERGUNTA 1 — ESTRUTURA DO 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F3864"/>
                </a:solidFill>
                <a:latin typeface="Calibri"/>
              </a:rPr>
              <a:t>Mercado consolidado em quatro famílias — e escasso no topo</a:t>
            </a:r>
          </a:p>
        </p:txBody>
      </p:sp>
      <p:pic>
        <p:nvPicPr>
          <p:cNvPr id="4" name="Picture 3" descr="G02_roles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6675120" cy="34710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05502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666666"/>
                </a:solidFill>
                <a:latin typeface="Calibri"/>
              </a:rPr>
              <a:t>Figura 3 — Participação por grupo de cargo, contribuidores individuais (top 9).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18872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Quatro famílias concentram 66,8%: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Análise de Dados (24,0%), Engenharia/Arquitetura (17,2%), Ciência de Dados (17,0%) e BI (8,6%).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Perfis emergentes: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Analytics Engineer (5,4%) e ML/AI Engineer (4,2%) — inexpressivos nas primeiras edições.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A base Júnior encolhe e o topo se sofistica: a edição 2025/26 criou a categoria Especialista/Staff+.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3520440"/>
            <a:ext cx="4206240" cy="914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ctr"/>
            <a:r>
              <a:rPr sz="950" b="1" i="0">
                <a:solidFill>
                  <a:srgbClr val="A34D00"/>
                </a:solidFill>
                <a:latin typeface="Calibri"/>
              </a:rPr>
              <a:t>IMPLICAÇÃO PARA O CLIENTE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Disputa dura por sêniores. Formar internamente custa menos do que competir no mercado aberto.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3520440"/>
            <a:ext cx="38100" cy="914400"/>
          </a:xfrm>
          <a:prstGeom prst="rect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777777"/>
                </a:solidFill>
                <a:latin typeface="Calibri"/>
              </a:rPr>
              <a:t>Fonte: State of Data Brasil — Data Hackers/Bain (Kaggle) · Edição 2025/26 · n = 2.501 com cargo declarado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E2E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4610A"/>
                </a:solidFill>
                <a:latin typeface="Calibri"/>
              </a:rPr>
              <a:t>PERGUNTA 2 — PERFIS VALORIZADOS E REMUNERAÇÃO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F3864"/>
                </a:solidFill>
                <a:latin typeface="Calibri"/>
              </a:rPr>
              <a:t>Cada degrau de senioridade quase dobra a remuneração</a:t>
            </a:r>
          </a:p>
        </p:txBody>
      </p:sp>
      <p:pic>
        <p:nvPicPr>
          <p:cNvPr id="4" name="Picture 3" descr="G04_salary_by_sen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6675120" cy="34710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05502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666666"/>
                </a:solidFill>
                <a:latin typeface="Calibri"/>
              </a:rPr>
              <a:t>Figura 4 — Salário mediano estimado por senioridade (ponto médio de faixa, premissa P3).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18872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3864"/>
                </a:solidFill>
                <a:latin typeface="Calibri"/>
              </a:rPr>
              <a:t>R$ 18.001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5564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444444"/>
                </a:solidFill>
                <a:latin typeface="Calibri"/>
              </a:rPr>
              <a:t>mediana do nível Especialista/Staff+ — e também do perfil ML/AI Engineer, o mais bem pago do mercado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42316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Júnior R$ 3.501 · Pleno R$ 7.001 · Sênior R$ 14.001.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Maiores prêmios em engenharia e ciência aplicada — quem constrói plataforma e produtos de 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3474720"/>
            <a:ext cx="4206240" cy="8686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ctr"/>
            <a:r>
              <a:rPr sz="950" b="1" i="0">
                <a:solidFill>
                  <a:srgbClr val="A34D00"/>
                </a:solidFill>
                <a:latin typeface="Calibri"/>
              </a:rPr>
              <a:t>IMPLICAÇÃO PARA O CLIENTE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Banda salarial única para “profissional de dados” é erro de orçamento: calibrar por família de cargo.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3474720"/>
            <a:ext cx="38100" cy="868680"/>
          </a:xfrm>
          <a:prstGeom prst="rect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777777"/>
                </a:solidFill>
                <a:latin typeface="Calibri"/>
              </a:rPr>
              <a:t>Fonte: State of Data Brasil — Data Hackers/Bain (Kaggle) · Edição 2025/26 · mediana do ponto médio de faixa salarial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E2E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4610A"/>
                </a:solidFill>
                <a:latin typeface="Calibri"/>
              </a:rPr>
              <a:t>PERGUNTA 3 — DIVERSIDADE DE GÊNERO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F3864"/>
                </a:solidFill>
                <a:latin typeface="Calibri"/>
              </a:rPr>
              <a:t>A barreira não é a entrada: é a promoção</a:t>
            </a:r>
          </a:p>
        </p:txBody>
      </p:sp>
      <p:pic>
        <p:nvPicPr>
          <p:cNvPr id="4" name="Picture 3" descr="G07_gender_gap_by_sen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6675120" cy="34710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05502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666666"/>
                </a:solidFill>
                <a:latin typeface="Calibri"/>
              </a:rPr>
              <a:t>Figura 5 — Salário mediano por gênero, controlado por senioridade (2025/26).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18872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3864"/>
                </a:solidFill>
                <a:latin typeface="Calibri"/>
              </a:rPr>
              <a:t>−28,6%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5564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444444"/>
                </a:solidFill>
                <a:latin typeface="Calibri"/>
              </a:rPr>
              <a:t>diferença na mediana do nível Sênior — R$ 4.000 por mês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423160"/>
            <a:ext cx="4206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Júnior e Pleno: medianas iguais.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O gap surge no Sênior e persiste no topo (−22,2%).</a:t>
            </a:r>
          </a:p>
          <a:p>
            <a:pPr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Participação feminina estagnada: 18,5% (2019) → pico de 24,8% (2022) → 22,0% (2025/26).</a:t>
            </a:r>
          </a:p>
          <a:p>
            <a:pPr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Liderança: 19,1% das mulheres em posição de gestão, contra 23,6% dos homens.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3977640"/>
            <a:ext cx="4206240" cy="8229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ctr"/>
            <a:r>
              <a:rPr sz="950" b="1" i="0">
                <a:solidFill>
                  <a:srgbClr val="A34D00"/>
                </a:solidFill>
                <a:latin typeface="Calibri"/>
              </a:rPr>
              <a:t>IMPLICAÇÃO PARA O CLIENTE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Política de D&amp;I focada só em contratação não resolve. A alavanca está em promoção e retenção.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3977640"/>
            <a:ext cx="38100" cy="822960"/>
          </a:xfrm>
          <a:prstGeom prst="rect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777777"/>
                </a:solidFill>
                <a:latin typeface="Calibri"/>
              </a:rPr>
              <a:t>Fonte: State of Data Brasil — Data Hackers/Bain (Kaggle) · Edição 2025/26 · comparação controlada por senioridade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E2E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4610A"/>
                </a:solidFill>
                <a:latin typeface="Calibri"/>
              </a:rPr>
              <a:t>PERGUNTA 4 — TECNOLOGIAS COM MAIOR ADOÇÃO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F3864"/>
                </a:solidFill>
                <a:latin typeface="Calibri"/>
              </a:rPr>
              <a:t>Python e SQL são alfabetização; AWS lidera a nuvem</a:t>
            </a:r>
          </a:p>
        </p:txBody>
      </p:sp>
      <p:pic>
        <p:nvPicPr>
          <p:cNvPr id="4" name="Picture 3" descr="G08_languages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6675120" cy="34710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05502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666666"/>
                </a:solidFill>
                <a:latin typeface="Calibri"/>
              </a:rPr>
              <a:t>Figura 6 — Adoção de linguagens no trabalho, série 2019–2025/26 (múltipla escolha).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18872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3864"/>
                </a:solidFill>
                <a:latin typeface="Calibri"/>
              </a:rPr>
              <a:t>92,0%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5564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444444"/>
                </a:solidFill>
                <a:latin typeface="Calibri"/>
              </a:rPr>
              <a:t>de adoção de Python em 2025/26 — eram 44,4% em 2019 (+47,6 p.p.; crescimento de 2,1×)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423160"/>
            <a:ext cx="4206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SQL em 84,2%: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o par Python + SQL é pré-requisito, não diferencial.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AWS lidera a nuvem com 48,3%,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à frente de Azure e GCP.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Power BI domina o consumo analítico corporativo.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3840480"/>
            <a:ext cx="4206240" cy="7772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ctr"/>
            <a:r>
              <a:rPr sz="950" b="1" i="0">
                <a:solidFill>
                  <a:srgbClr val="A34D00"/>
                </a:solidFill>
                <a:latin typeface="Calibri"/>
              </a:rPr>
              <a:t>IMPLICAÇÃO PARA O CLIENTE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Padronizar no que o mercado já domina reduz custo e prazo de contratação e de treinamento.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3840480"/>
            <a:ext cx="38100" cy="777240"/>
          </a:xfrm>
          <a:prstGeom prst="rect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777777"/>
                </a:solidFill>
                <a:latin typeface="Calibri"/>
              </a:rPr>
              <a:t>Fonte: State of Data Brasil — Data Hackers/Bain (Kaggle) · Edições 2019–2025/26 · base de respondentes válidos por questão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E2E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4610A"/>
                </a:solidFill>
                <a:latin typeface="Calibri"/>
              </a:rPr>
              <a:t>PERGUNTA 5 — ADOÇÃO DE IA E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F3864"/>
                </a:solidFill>
                <a:latin typeface="Calibri"/>
              </a:rPr>
              <a:t>IA deixou de ser iniciativa pessoal: 6,4% → 42,4% em dois anos</a:t>
            </a:r>
          </a:p>
        </p:txBody>
      </p:sp>
      <p:pic>
        <p:nvPicPr>
          <p:cNvPr id="4" name="Picture 3" descr="G12_genai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6675120" cy="34710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05502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666666"/>
                </a:solidFill>
                <a:latin typeface="Calibri"/>
              </a:rPr>
              <a:t>Figura 7 — Uso individual de IA generativa no trabalho, 2023 a 2025/26.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18872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3864"/>
                </a:solidFill>
                <a:latin typeface="Calibri"/>
              </a:rPr>
              <a:t>60,6%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5564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444444"/>
                </a:solidFill>
                <a:latin typeface="Calibri"/>
              </a:rPr>
              <a:t>dos gestores já tratam IA generativa como prioridade máxima ou entre as principais (eram 36,2% em 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423160"/>
            <a:ext cx="4206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“Não é prioridade” desabou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de 28,8% para 11,3%.</a:t>
            </a:r>
          </a:p>
          <a:p>
            <a:pPr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Quem não usa GenAI caiu de 19,7% para 2,1%.</a:t>
            </a:r>
          </a:p>
          <a:p>
            <a:pPr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“Empresa paga a ferramenta”: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+36,0 p.p. em dois anos (6,6×) — o uso saiu do gratuito e não governado.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3977640"/>
            <a:ext cx="4206240" cy="8686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ctr"/>
            <a:r>
              <a:rPr sz="950" b="1" i="0">
                <a:solidFill>
                  <a:srgbClr val="A34D00"/>
                </a:solidFill>
                <a:latin typeface="Calibri"/>
              </a:rPr>
              <a:t>IMPLICAÇÃO PARA O CLIENTE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Para banco regulado, fornecer ferramenta oficial é ganho de produtividade e mitigação de vazamento (shadow AI).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3977640"/>
            <a:ext cx="38100" cy="868680"/>
          </a:xfrm>
          <a:prstGeom prst="rect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777777"/>
                </a:solidFill>
                <a:latin typeface="Calibri"/>
              </a:rPr>
              <a:t>Fonte: State of Data Brasil — Data Hackers/Bain (Kaggle) · Edições 2023–2025/26 · base de respondentes válidos por questão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E2E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4610A"/>
                </a:solidFill>
                <a:latin typeface="Calibri"/>
              </a:rPr>
              <a:t>PERGUNTA 6 — REGIÕES, SENIORIDADE E MODELOS DE TRABALHO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F3864"/>
                </a:solidFill>
                <a:latin typeface="Calibri"/>
              </a:rPr>
              <a:t>Talento está fora do eixo — e não quer voltar ao presencial</a:t>
            </a:r>
          </a:p>
        </p:txBody>
      </p:sp>
      <p:pic>
        <p:nvPicPr>
          <p:cNvPr id="4" name="Picture 3" descr="G14_work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6675120" cy="34710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05502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666666"/>
                </a:solidFill>
                <a:latin typeface="Calibri"/>
              </a:rPr>
              <a:t>Figura 8 — Modelo de trabalho praticado versus desejado (2025/26).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18872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3864"/>
                </a:solidFill>
                <a:latin typeface="Calibri"/>
              </a:rPr>
              <a:t>1,9%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5564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444444"/>
                </a:solidFill>
                <a:latin typeface="Calibri"/>
              </a:rPr>
              <a:t>é a fatia de profissionais que deseja trabalhar 100% presencial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423160"/>
            <a:ext cx="4206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O Sudeste concentra 64,4%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dos profissionais e as medianas regionais são equivalentes (R$ 10.001): contratar fora do eixo amplia o funil sem alterar a banda salarial.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O descompasso entre modelo praticado e desejado é o principal risco de atração e retenção.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4023360"/>
            <a:ext cx="4206240" cy="8229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ctr"/>
            <a:r>
              <a:rPr sz="950" b="1" i="0">
                <a:solidFill>
                  <a:srgbClr val="A34D00"/>
                </a:solidFill>
                <a:latin typeface="Calibri"/>
              </a:rPr>
              <a:t>IMPLICAÇÃO PARA O CLIENTE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Presença rígida funciona como imposto sobre a folha: encarece a contratação e acelera a saída.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4023360"/>
            <a:ext cx="38100" cy="822960"/>
          </a:xfrm>
          <a:prstGeom prst="rect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777777"/>
                </a:solidFill>
                <a:latin typeface="Calibri"/>
              </a:rPr>
              <a:t>Fonte: State of Data Brasil — Data Hackers/Bain (Kaggle) · Edição 2025/26 · respondentes com vínculo ativo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E2E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4610A"/>
                </a:solidFill>
                <a:latin typeface="Calibri"/>
              </a:rPr>
              <a:t>PERGUNTA 7 — OPORTUNIDADES E DESAFIOS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F3864"/>
                </a:solidFill>
                <a:latin typeface="Calibri"/>
              </a:rPr>
              <a:t>A janela de vantagem em IA se fecha; dados confiáveis decidem</a:t>
            </a:r>
          </a:p>
        </p:txBody>
      </p:sp>
      <p:pic>
        <p:nvPicPr>
          <p:cNvPr id="4" name="Picture 3" descr="G15_job_crite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6675120" cy="34710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05502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1">
                <a:solidFill>
                  <a:srgbClr val="666666"/>
                </a:solidFill>
                <a:latin typeface="Calibri"/>
              </a:rPr>
              <a:t>Figura 9 — Critérios decisivos na escolha de onde trabalhar (2025/26).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188720"/>
            <a:ext cx="4206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EVP vence salário isolado: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remuneração lidera, mas flexibilidade, ambiente e crescimento formam o pelotão decisivo.</a:t>
            </a:r>
          </a:p>
          <a:p>
            <a:pPr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A dor de quem já lidera times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não é contratar: lideram dividir tempo entre técnica e gestão (36,3%) e gerenciar a expectativa das áreas (33,3%); qualidade dos dados aparece com 21,6%.</a:t>
            </a:r>
          </a:p>
          <a:p>
            <a:pPr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Com a adoção de IA rumo à paridade, o diferencial migra para quem captura valor primeiro.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3703320"/>
            <a:ext cx="4206240" cy="10058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ctr"/>
            <a:r>
              <a:rPr sz="950" b="1" i="0">
                <a:solidFill>
                  <a:srgbClr val="A34D00"/>
                </a:solidFill>
                <a:latin typeface="Calibri"/>
              </a:rPr>
              <a:t>IMPLICAÇÃO PARA O CLIENTE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Investir em IA sem base de dados confiável antecipa o custo e adia o retorno — e a governança do dado é pré-requisito, não consequência.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3703320"/>
            <a:ext cx="38100" cy="1005840"/>
          </a:xfrm>
          <a:prstGeom prst="rect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777777"/>
                </a:solidFill>
                <a:latin typeface="Calibri"/>
              </a:rPr>
              <a:t>Fonte: State of Data Brasil — Data Hackers/Bain (Kaggle) · Edição 2025/26 · base de respondentes válidos por questão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E2E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4610A"/>
                </a:solidFill>
                <a:latin typeface="Calibri"/>
              </a:rPr>
              <a:t>RECOMENDAÇÕES ESTRATÉGICAS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F3864"/>
                </a:solidFill>
                <a:latin typeface="Calibri"/>
              </a:rPr>
              <a:t>Três frentes, oito ações, prioridade declarada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1118311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371600"/>
                <a:gridCol w="1645920"/>
                <a:gridCol w="3959352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Ação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Prioridade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Horizonte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Evidência-âncora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Política de uso e licenciamento corporativo de GenAI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B02A2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0–90 dias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42,4% já têm GenAI paga pela empresa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Trilha obrigatória Python + SQL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B02A2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0–90 dias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92,0% e 84,2% de adoção no mercado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Bandas salariais por família de cargo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B02A2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0–90 dias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De R$ 3.501 (Jr) a R$ 18.001 (Esp.)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Plataforma Medallion com catálogo e qualidade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B02A2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3–12 meses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Qualidade dos dados: 21,6% dos gestores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Metas de diversidade na promoção a Sênior+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B02A2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3–12 meses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Gap de −28,6% concentrado no Sênior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Contratação remota nacional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9A6B00"/>
                          </a:solidFill>
                          <a:latin typeface="Calibri"/>
                        </a:rPr>
                        <a:t>Média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6–18 meses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Sudeste concentra 64,4%; ampliar o funil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Programa de formação de base (Júnior → Pleno)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9A6B00"/>
                          </a:solidFill>
                          <a:latin typeface="Calibri"/>
                        </a:rPr>
                        <a:t>Média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6–18 meses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Escassez relativa de sêniores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EVP com flexibilidade formalizada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9A6B00"/>
                          </a:solidFill>
                          <a:latin typeface="Calibri"/>
                        </a:rPr>
                        <a:t>Média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6–18 meses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Apenas 1,9% desejam presencial integral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777777"/>
                </a:solidFill>
                <a:latin typeface="Calibri"/>
              </a:rPr>
              <a:t>Cada ação é rastreável a um indicador apresentado nos slides 7 a 13 · Fonte: State of Data Brasil (Data Hackers/Bain)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E2E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4610A"/>
                </a:solidFill>
                <a:latin typeface="Calibri"/>
              </a:rPr>
              <a:t>RISCOS E LIMITAÇÕES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F3864"/>
                </a:solidFill>
                <a:latin typeface="Calibri"/>
              </a:rPr>
              <a:t>O que os dados não dizem — e como tratamos isso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63093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383280"/>
              </a:tblGrid>
              <a:tr h="4419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Risco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Mitigação aplicada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Quebra de schema entre edições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De-para versionado + asserções automáticas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Mudança de categorias do questionário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Harmonização documentada; quebras declaradas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Queda de volumetria em 2025/26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Apenas proporções; n declarado em todo gráfico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Denominador de múltipla escolha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Base = respondentes válidos da questão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Estimativa salarial por ponto médio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1A1A1A"/>
                          </a:solidFill>
                          <a:latin typeface="Calibri"/>
                        </a:rPr>
                        <a:t>Regra única e auditável (premissa P3)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06640" y="1188720"/>
            <a:ext cx="42062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A1A1A"/>
                </a:solidFill>
                <a:latin typeface="Calibri"/>
              </a:rPr>
              <a:t>Seis leituras intuitivas foram testadas contra os dados; quatro foram refutadas e reescritas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— o registro completo está na Seção 13.4 do relatório técnico.</a:t>
            </a:r>
          </a:p>
          <a:p>
            <a:pPr>
              <a:spcAft>
                <a:spcPts val="7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A1A1A"/>
                </a:solidFill>
                <a:latin typeface="Calibri"/>
              </a:rPr>
              <a:t>Exemplo: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o prêmio salarial por cargo foi revalidado com controle de senioridade, e a suposta vantagem da Engenharia sobre a Ciência de Dados mostrou-se efeito de composição.</a:t>
            </a:r>
          </a:p>
          <a:p>
            <a:pPr>
              <a:spcAft>
                <a:spcPts val="7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A1A1A"/>
                </a:solidFill>
                <a:latin typeface="Calibri"/>
              </a:rPr>
              <a:t>Amostra por conveniência,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sem pesos: descreve os respondentes, não o universo do país.</a:t>
            </a:r>
          </a:p>
          <a:p>
            <a:pPr>
              <a:spcAft>
                <a:spcPts val="7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A1A1A"/>
                </a:solidFill>
                <a:latin typeface="Calibri"/>
              </a:rPr>
              <a:t>Viés de seleção e de autorresposta: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comunidade online engajada tende a superestimar a adoção de tecnologias novas.</a:t>
            </a:r>
          </a:p>
          <a:p>
            <a:pPr>
              <a:spcAft>
                <a:spcPts val="7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1A1A1A"/>
                </a:solidFill>
                <a:latin typeface="Calibri"/>
              </a:rPr>
              <a:t>Sem inferência causal: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análise descritiva por decisão metodológica — testes inferenciais não teriam validade nesta amostra.</a:t>
            </a:r>
          </a:p>
          <a:p>
            <a:pPr>
              <a:spcAft>
                <a:spcPts val="7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Tendências direcionais são mais confiáveis que níveis absolutos.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777777"/>
                </a:solidFill>
                <a:latin typeface="Calibri"/>
              </a:rPr>
              <a:t>Transparência metodológica completa nos anexos técnicos e no relatório técnico do projeto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E2E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4610A"/>
                </a:solidFill>
                <a:latin typeface="Calibri"/>
              </a:rP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F3864"/>
                </a:solidFill>
                <a:latin typeface="Calibri"/>
              </a:rPr>
              <a:t>90 dias: política de IA, trilha técnica e bandas salariais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1118311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926080"/>
                <a:gridCol w="3502152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Quick win (0–90 dias)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Entregável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Resultado esperado</a:t>
                      </a:r>
                    </a:p>
                  </a:txBody>
                  <a:tcPr marL="73152" marR="73152" marT="27432" marB="27432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Publicar política de uso de IA generativa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Normativo interno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Elimina shadow AI e risco de vazamento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Disponibilizar ferramenta oficial licenciada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Contrato + rollout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Produtividade com trilha de auditoria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Lançar trilha Python + SQL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Programa de capacitação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Nivelamento técnico do time atual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Revisar bandas salariais por família de cargo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Tabela de remuneração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1A1A1A"/>
                          </a:solidFill>
                          <a:latin typeface="Calibri"/>
                        </a:rPr>
                        <a:t>Competitividade na contratação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3794760"/>
            <a:ext cx="11185855" cy="10058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73152" bIns="73152"/>
          <a:lstStyle/>
          <a:p>
            <a:pPr algn="ctr"/>
            <a:r>
              <a:rPr sz="950" b="1" i="0">
                <a:solidFill>
                  <a:srgbClr val="A34D00"/>
                </a:solidFill>
                <a:latin typeface="Calibri"/>
              </a:rPr>
              <a:t>DEPOIS DOS 90 DIAS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1A1A1A"/>
                </a:solidFill>
                <a:latin typeface="Calibri"/>
              </a:rPr>
              <a:t>Plataforma Medallion com catálogo e qualidade (3–12 meses) · metas de diversidade na promoção (3–12 meses) · programa de formação de base e EVP formalizado (6–18 meses).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794760"/>
            <a:ext cx="38100" cy="1005840"/>
          </a:xfrm>
          <a:prstGeom prst="rect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777777"/>
                </a:solidFill>
                <a:latin typeface="Calibri"/>
              </a:rPr>
              <a:t>Roadmap derivado da matriz de priorização do slide 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E2E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4610A"/>
                </a:solidFill>
                <a:latin typeface="Calibri"/>
              </a:rPr>
              <a:t>ANEXOS E 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1F3864"/>
                </a:solidFill>
                <a:latin typeface="Calibri"/>
              </a:rPr>
              <a:t>Rastreabilidade completa da evidência ao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A1A1A"/>
                </a:solidFill>
                <a:latin typeface="Calibri"/>
              </a:rPr>
              <a:t>Anexos técnicos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A1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— EDA e qualidade dos dados (preenchimento e nulos estruturais)</a:t>
            </a:r>
          </a:p>
          <a:p>
            <a:pPr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A2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— Métricas do pipeline (22.686 linhas, zero descartes)</a:t>
            </a:r>
          </a:p>
          <a:p>
            <a:pPr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A3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— Premissas versionadas P1–P8 e de-para de colunas</a:t>
            </a:r>
          </a:p>
          <a:p>
            <a:pPr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A4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— Gráficos complementares (senioridade, salário por cargo, participação feminina, clouds, BI, regiões, prioridade de IA)</a:t>
            </a:r>
          </a:p>
          <a:p>
            <a:pPr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A5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— Evidências de execução na AWS (E01–E08)</a:t>
            </a:r>
          </a:p>
          <a:p>
            <a:pPr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A"/>
                </a:solidFill>
                <a:latin typeface="Calibri"/>
              </a:rPr>
              <a:t>A6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— Notebooks 01–05, Glue Jobs e diagrama Draw.io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A1A1A"/>
                </a:solidFill>
                <a:latin typeface="Calibri"/>
              </a:rPr>
              <a:t>Referências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51206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A1A1A"/>
                </a:solidFill>
                <a:latin typeface="Calibri"/>
              </a:rPr>
              <a:t>DATA HACKERS; BAIN &amp; COMPANY. State of Data Brazil: edições 2019–2025/26. Kaggle.</a:t>
            </a:r>
          </a:p>
          <a:p>
            <a:pPr>
              <a:spcAft>
                <a:spcPts val="7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A1A1A"/>
                </a:solidFill>
                <a:latin typeface="Calibri"/>
              </a:rPr>
              <a:t>BAIN &amp; COMPANY. Pesquisa de adoção de IA generativa no Brasil, 2025.</a:t>
            </a:r>
          </a:p>
          <a:p>
            <a:pPr>
              <a:spcAft>
                <a:spcPts val="7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A1A1A"/>
                </a:solidFill>
                <a:latin typeface="Calibri"/>
              </a:rPr>
              <a:t>MCKINSEY &amp; COMPANY. The State of AI, 2025.</a:t>
            </a:r>
          </a:p>
          <a:p>
            <a:pPr>
              <a:spcAft>
                <a:spcPts val="7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A1A1A"/>
                </a:solidFill>
                <a:latin typeface="Calibri"/>
              </a:rPr>
              <a:t>DATABRICKS. Medallion Lakehouse Architecture.</a:t>
            </a:r>
          </a:p>
          <a:p>
            <a:pPr>
              <a:spcAft>
                <a:spcPts val="7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A1A1A"/>
                </a:solidFill>
                <a:latin typeface="Calibri"/>
              </a:rPr>
              <a:t>AWS BUILDERS (comunidade dev.to, publicação não oficial). Medallion Architecture on AWS.</a:t>
            </a:r>
          </a:p>
          <a:p>
            <a:pPr>
              <a:spcAft>
                <a:spcPts val="700"/>
              </a:spcAft>
            </a:pPr>
            <a:r>
              <a:rPr sz="950" b="0" i="0">
                <a:solidFill>
                  <a:srgbClr val="1A1A1A"/>
                </a:solidFill>
                <a:latin typeface="Calibri"/>
              </a:rPr>
              <a:t>•  </a:t>
            </a:r>
            <a:r>
              <a:rPr sz="950" b="0" i="0">
                <a:solidFill>
                  <a:srgbClr val="1A1A1A"/>
                </a:solidFill>
                <a:latin typeface="Calibri"/>
              </a:rPr>
              <a:t>BRASSCOM. Censo de Diversidade do Setor de TIC, 2024–2025.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93192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1">
                <a:solidFill>
                  <a:srgbClr val="666666"/>
                </a:solidFill>
                <a:latin typeface="Calibri"/>
              </a:rPr>
              <a:t>Fontes externas usadas apenas como benchmark; todos os números deste material saem do pipeline sobre os dados oficiais da pesquisa.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777777"/>
                </a:solidFill>
                <a:latin typeface="Calibri"/>
              </a:rPr>
              <a:t>Repositório do projeto: github.com/lgmricardo/Techchallenge3-G12 · Evidências de execução na AWS: pasta evidence/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19088"/>
            <a:ext cx="11185855" cy="0"/>
          </a:xfrm>
          <a:prstGeom prst="line">
            <a:avLst/>
          </a:prstGeom>
          <a:ln w="9525">
            <a:solidFill>
              <a:srgbClr val="E2E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